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Poppins"/>
      <p:regular r:id="rId32"/>
      <p:bold r:id="rId33"/>
      <p:italic r:id="rId34"/>
      <p:boldItalic r:id="rId35"/>
    </p:embeddedFont>
    <p:embeddedFont>
      <p:font typeface="Poppins ExtraBold"/>
      <p:bold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Poppins-bold.fntdata"/><Relationship Id="rId10" Type="http://schemas.openxmlformats.org/officeDocument/2006/relationships/slide" Target="slides/slide5.xml"/><Relationship Id="rId32" Type="http://schemas.openxmlformats.org/officeDocument/2006/relationships/font" Target="fonts/Poppins-regular.fntdata"/><Relationship Id="rId13" Type="http://schemas.openxmlformats.org/officeDocument/2006/relationships/slide" Target="slides/slide8.xml"/><Relationship Id="rId35" Type="http://schemas.openxmlformats.org/officeDocument/2006/relationships/font" Target="fonts/Poppins-boldItalic.fntdata"/><Relationship Id="rId12" Type="http://schemas.openxmlformats.org/officeDocument/2006/relationships/slide" Target="slides/slide7.xml"/><Relationship Id="rId34" Type="http://schemas.openxmlformats.org/officeDocument/2006/relationships/font" Target="fonts/Poppins-italic.fntdata"/><Relationship Id="rId15" Type="http://schemas.openxmlformats.org/officeDocument/2006/relationships/slide" Target="slides/slide10.xml"/><Relationship Id="rId37" Type="http://schemas.openxmlformats.org/officeDocument/2006/relationships/font" Target="fonts/PoppinsExtraBold-boldItalic.fntdata"/><Relationship Id="rId14" Type="http://schemas.openxmlformats.org/officeDocument/2006/relationships/slide" Target="slides/slide9.xml"/><Relationship Id="rId36" Type="http://schemas.openxmlformats.org/officeDocument/2006/relationships/font" Target="fonts/PoppinsExtraBold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9d13ca125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9d13ca125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9cfc2d1d2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f9cfc2d1d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9cfc2d1d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9cfc2d1d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h4aed518bbcf7e802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h4aed518bbcf7e802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a640b585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a640b58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a1d4cac2b_7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a1d4cac2b_7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4aed518bbcf7e802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h4aed518bbcf7e802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4aed518bbcf7e802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h4aed518bbcf7e802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FA4A2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</a:rPr>
              <a:t>arthur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5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4aed518bbcf7e802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h4aed518bbcf7e802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4aed518bbcf7e802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h4aed518bbcf7e802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h4aed518bbcf7e802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h4aed518bbcf7e802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h4aed518bbcf7e802_1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h4aed518bbcf7e802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h4aed518bbcf7e802_1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h4aed518bbcf7e802_1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h4aed518bbcf7e802_1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h4aed518bbcf7e802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h4aed518bbcf7e802_1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h4aed518bbcf7e802_1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h4aed518bbcf7e802_1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h4aed518bbcf7e802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h4aed518bbcf7e802_1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h4aed518bbcf7e802_1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4aed518bbcf7e802_1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h4aed518bbcf7e802_1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h4aed518bbcf7e802_1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h4aed518bbcf7e802_1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h4aed518bbcf7e802_1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h4aed518bbcf7e802_1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h4aed518bbcf7e802_1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h4aed518bbcf7e802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a640b5856_0_7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fa640b5856_0_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'O case é importante não porque a Magalu tem WhatsApp. Você também tem. É importante porque ela desenhou uma jornada dentro da conversa.'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A frase principal deve ficar alguns segundos sozinha na tela para ser fotografada.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h4aed518bbcf7e802_1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h4aed518bbcf7e802_1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'O case é importante não porque a Magalu tem WhatsApp. Você também tem. É importante porque ela desenhou uma jornada dentro da conversa.'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A frase principal deve ficar alguns segundos sozinha na tela para ser fotografada.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h4aed518bbcf7e802_1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h4aed518bbcf7e802_1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'O case é importante não porque a Magalu tem WhatsApp. Você também tem. É importante porque ela desenhou uma jornada dentro da conversa.'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A frase principal deve ficar alguns segundos sozinha na tela para ser fotografada.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h4aed518bbcf7e802_1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h4aed518bbcf7e802_1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13.jp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5.jp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9.jp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19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7.png"/><Relationship Id="rId5" Type="http://schemas.openxmlformats.org/officeDocument/2006/relationships/image" Target="../media/image18.png"/><Relationship Id="rId6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22.pn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21.png"/><Relationship Id="rId5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Relationship Id="rId4" Type="http://schemas.openxmlformats.org/officeDocument/2006/relationships/image" Target="../media/image20.png"/><Relationship Id="rId5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Relationship Id="rId4" Type="http://schemas.openxmlformats.org/officeDocument/2006/relationships/image" Target="../media/image14.png"/><Relationship Id="rId5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Relationship Id="rId4" Type="http://schemas.openxmlformats.org/officeDocument/2006/relationships/image" Target="../media/image15.png"/><Relationship Id="rId5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Relationship Id="rId4" Type="http://schemas.openxmlformats.org/officeDocument/2006/relationships/image" Target="../media/image11.png"/><Relationship Id="rId5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Relationship Id="rId4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Relationship Id="rId4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undo-sem-logos-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6625" y="-34375"/>
            <a:ext cx="9276752" cy="52238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311696" y="154754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944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Marketing Inteligente</a:t>
            </a:r>
            <a:endParaRPr b="1" sz="2944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389">
                <a:solidFill>
                  <a:srgbClr val="FF4016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INTELIGÊNCIA ARTIFICIAL </a:t>
            </a:r>
            <a:endParaRPr sz="4389">
              <a:solidFill>
                <a:srgbClr val="FF4016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389">
                <a:solidFill>
                  <a:srgbClr val="FF4016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PARA VENDER MAIS</a:t>
            </a:r>
            <a:endParaRPr sz="4389">
              <a:solidFill>
                <a:srgbClr val="FF4016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56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 criar experiências que encantam</a:t>
            </a:r>
            <a:endParaRPr b="1" sz="3056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24600" y="4753725"/>
            <a:ext cx="2599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@Vinícius Grecco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266850" y="5662175"/>
            <a:ext cx="485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8" name="Google Shape;58;p13" title="NIA.png"/>
          <p:cNvPicPr preferRelativeResize="0"/>
          <p:nvPr/>
        </p:nvPicPr>
        <p:blipFill rotWithShape="1">
          <a:blip r:embed="rId4">
            <a:alphaModFix/>
          </a:blip>
          <a:srcRect b="33348" l="5616" r="0" t="23916"/>
          <a:stretch/>
        </p:blipFill>
        <p:spPr>
          <a:xfrm>
            <a:off x="8142950" y="248450"/>
            <a:ext cx="786750" cy="356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undo sem log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75050" y="-167925"/>
            <a:ext cx="9751501" cy="5488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 title="signed_78a1ac6a-098e-4676-91ea-1e848213f74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8325" y="360031"/>
            <a:ext cx="2923251" cy="3646526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>
            <p:ph type="ctrTitle"/>
          </p:nvPr>
        </p:nvSpPr>
        <p:spPr>
          <a:xfrm>
            <a:off x="2164775" y="4006550"/>
            <a:ext cx="2923200" cy="72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BR" sz="2400">
                <a:solidFill>
                  <a:srgbClr val="20124D"/>
                </a:solidFill>
                <a:latin typeface="Poppins"/>
                <a:ea typeface="Poppins"/>
                <a:cs typeface="Poppins"/>
                <a:sym typeface="Poppins"/>
              </a:rPr>
              <a:t>VINÍCIUS</a:t>
            </a:r>
            <a:r>
              <a:rPr b="1" lang="pt-BR" sz="2400">
                <a:solidFill>
                  <a:srgbClr val="FA4A2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pt-BR"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GRECCO</a:t>
            </a:r>
            <a:endParaRPr b="1" sz="2400">
              <a:solidFill>
                <a:schemeClr val="lt1"/>
              </a:solidFill>
            </a:endParaRPr>
          </a:p>
        </p:txBody>
      </p:sp>
      <p:pic>
        <p:nvPicPr>
          <p:cNvPr id="66" name="Google Shape;66;p14" title="Ativo 5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65750" y="4350942"/>
            <a:ext cx="1187075" cy="20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 title="NIA.png"/>
          <p:cNvPicPr preferRelativeResize="0"/>
          <p:nvPr/>
        </p:nvPicPr>
        <p:blipFill rotWithShape="1">
          <a:blip r:embed="rId6">
            <a:alphaModFix/>
          </a:blip>
          <a:srcRect b="33348" l="5616" r="0" t="23916"/>
          <a:stretch/>
        </p:blipFill>
        <p:spPr>
          <a:xfrm>
            <a:off x="8219500" y="148950"/>
            <a:ext cx="786750" cy="356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5" title="fundo-sem-logos-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3575" y="-38675"/>
            <a:ext cx="9261351" cy="521512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/>
          <p:nvPr/>
        </p:nvSpPr>
        <p:spPr>
          <a:xfrm>
            <a:off x="957125" y="1618375"/>
            <a:ext cx="7426200" cy="1779900"/>
          </a:xfrm>
          <a:prstGeom prst="roundRect">
            <a:avLst>
              <a:gd fmla="val 8767" name="adj"/>
            </a:avLst>
          </a:prstGeom>
          <a:solidFill>
            <a:srgbClr val="FA4A2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124600" y="4753725"/>
            <a:ext cx="2599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@Vinícius Grecco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" name="Google Shape;75;p15"/>
          <p:cNvSpPr txBox="1"/>
          <p:nvPr>
            <p:ph type="ctrTitle"/>
          </p:nvPr>
        </p:nvSpPr>
        <p:spPr>
          <a:xfrm>
            <a:off x="1668275" y="1618375"/>
            <a:ext cx="5641200" cy="16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INTELIGÊNCIA ARTIFICIAL </a:t>
            </a:r>
            <a:endParaRPr b="1"/>
          </a:p>
        </p:txBody>
      </p:sp>
      <p:pic>
        <p:nvPicPr>
          <p:cNvPr id="76" name="Google Shape;76;p15" title="NIA.png"/>
          <p:cNvPicPr preferRelativeResize="0"/>
          <p:nvPr/>
        </p:nvPicPr>
        <p:blipFill rotWithShape="1">
          <a:blip r:embed="rId4">
            <a:alphaModFix/>
          </a:blip>
          <a:srcRect b="33348" l="5616" r="0" t="23916"/>
          <a:stretch/>
        </p:blipFill>
        <p:spPr>
          <a:xfrm>
            <a:off x="8142950" y="248450"/>
            <a:ext cx="786750" cy="356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6" title="fundo-sem-logos-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6625" y="-34375"/>
            <a:ext cx="9276752" cy="52238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124600" y="4753725"/>
            <a:ext cx="2599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@Vinícius Grecco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3" name="Google Shape;83;p16" title="WhatsApp Image 2025-06-06 at 23.59.42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2276" y="577300"/>
            <a:ext cx="3559449" cy="4505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 title="NIA.png"/>
          <p:cNvPicPr preferRelativeResize="0"/>
          <p:nvPr/>
        </p:nvPicPr>
        <p:blipFill rotWithShape="1">
          <a:blip r:embed="rId5">
            <a:alphaModFix/>
          </a:blip>
          <a:srcRect b="33348" l="5616" r="0" t="23916"/>
          <a:stretch/>
        </p:blipFill>
        <p:spPr>
          <a:xfrm>
            <a:off x="8119975" y="221075"/>
            <a:ext cx="786750" cy="356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7" title="fundo-sem-logos-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7" y="0"/>
            <a:ext cx="913414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 title="WhatsApp Image 2025-06-06 at 23.59.42 (1)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5338" y="620025"/>
            <a:ext cx="3173324" cy="429555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/>
          <p:nvPr/>
        </p:nvSpPr>
        <p:spPr>
          <a:xfrm>
            <a:off x="124600" y="4753725"/>
            <a:ext cx="2599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@Vinícius Grecco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2" name="Google Shape;92;p17" title="NIA.png"/>
          <p:cNvPicPr preferRelativeResize="0"/>
          <p:nvPr/>
        </p:nvPicPr>
        <p:blipFill rotWithShape="1">
          <a:blip r:embed="rId5">
            <a:alphaModFix/>
          </a:blip>
          <a:srcRect b="33348" l="5616" r="0" t="23916"/>
          <a:stretch/>
        </p:blipFill>
        <p:spPr>
          <a:xfrm>
            <a:off x="8043450" y="263800"/>
            <a:ext cx="786750" cy="356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8" title="fundo-sem-logos-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7" y="0"/>
            <a:ext cx="913414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 title="lendo-jornai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2338" y="518150"/>
            <a:ext cx="6059324" cy="410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/>
          <p:nvPr/>
        </p:nvSpPr>
        <p:spPr>
          <a:xfrm>
            <a:off x="124600" y="4753725"/>
            <a:ext cx="2599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@Vinícius Grecco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0" name="Google Shape;100;p18" title="NIA.png"/>
          <p:cNvPicPr preferRelativeResize="0"/>
          <p:nvPr/>
        </p:nvPicPr>
        <p:blipFill rotWithShape="1">
          <a:blip r:embed="rId5">
            <a:alphaModFix/>
          </a:blip>
          <a:srcRect b="33348" l="5616" r="0" t="23916"/>
          <a:stretch/>
        </p:blipFill>
        <p:spPr>
          <a:xfrm>
            <a:off x="8051075" y="271425"/>
            <a:ext cx="786750" cy="356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9" title="fundo-sem-logos-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7" y="0"/>
            <a:ext cx="913414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 txBox="1"/>
          <p:nvPr/>
        </p:nvSpPr>
        <p:spPr>
          <a:xfrm>
            <a:off x="124600" y="4753725"/>
            <a:ext cx="2599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@Vinícius Grecco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7" name="Google Shape;107;p19" title="celular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5413" y="635333"/>
            <a:ext cx="6833174" cy="410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 title="NIA.png"/>
          <p:cNvPicPr preferRelativeResize="0"/>
          <p:nvPr/>
        </p:nvPicPr>
        <p:blipFill rotWithShape="1">
          <a:blip r:embed="rId5">
            <a:alphaModFix/>
          </a:blip>
          <a:srcRect b="33348" l="5616" r="0" t="23916"/>
          <a:stretch/>
        </p:blipFill>
        <p:spPr>
          <a:xfrm>
            <a:off x="8104675" y="248450"/>
            <a:ext cx="786750" cy="356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0" title="fundo-sem-logos-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7" y="0"/>
            <a:ext cx="913414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/>
          <p:nvPr/>
        </p:nvSpPr>
        <p:spPr>
          <a:xfrm>
            <a:off x="957125" y="1618375"/>
            <a:ext cx="7426200" cy="1779900"/>
          </a:xfrm>
          <a:prstGeom prst="roundRect">
            <a:avLst>
              <a:gd fmla="val 8767" name="adj"/>
            </a:avLst>
          </a:prstGeom>
          <a:solidFill>
            <a:srgbClr val="FA4A2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0"/>
          <p:cNvSpPr txBox="1"/>
          <p:nvPr/>
        </p:nvSpPr>
        <p:spPr>
          <a:xfrm>
            <a:off x="124600" y="4753725"/>
            <a:ext cx="2599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@Vinícius Grecco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" name="Google Shape;116;p20"/>
          <p:cNvSpPr txBox="1"/>
          <p:nvPr>
            <p:ph type="ctrTitle"/>
          </p:nvPr>
        </p:nvSpPr>
        <p:spPr>
          <a:xfrm>
            <a:off x="1668275" y="1618375"/>
            <a:ext cx="5641200" cy="16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SUPRIR ESSA DEMANDA RÁPIDA </a:t>
            </a:r>
            <a:endParaRPr b="1"/>
          </a:p>
        </p:txBody>
      </p:sp>
      <p:pic>
        <p:nvPicPr>
          <p:cNvPr id="117" name="Google Shape;117;p20" title="NIA.png"/>
          <p:cNvPicPr preferRelativeResize="0"/>
          <p:nvPr/>
        </p:nvPicPr>
        <p:blipFill rotWithShape="1">
          <a:blip r:embed="rId4">
            <a:alphaModFix/>
          </a:blip>
          <a:srcRect b="33348" l="5616" r="0" t="23916"/>
          <a:stretch/>
        </p:blipFill>
        <p:spPr>
          <a:xfrm>
            <a:off x="8146075" y="271425"/>
            <a:ext cx="786750" cy="356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1" title="fundo-sem-logos-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7" y="0"/>
            <a:ext cx="913414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 txBox="1"/>
          <p:nvPr/>
        </p:nvSpPr>
        <p:spPr>
          <a:xfrm>
            <a:off x="124600" y="4753725"/>
            <a:ext cx="2599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@Vinícius Grecco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4" name="Google Shape;124;p21" title="imagem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025" y="344825"/>
            <a:ext cx="7917955" cy="445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8750" y="620025"/>
            <a:ext cx="1013048" cy="535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 title="NIA.png"/>
          <p:cNvPicPr preferRelativeResize="0"/>
          <p:nvPr/>
        </p:nvPicPr>
        <p:blipFill rotWithShape="1">
          <a:blip r:embed="rId6">
            <a:alphaModFix/>
          </a:blip>
          <a:srcRect b="33348" l="5616" r="0" t="23916"/>
          <a:stretch/>
        </p:blipFill>
        <p:spPr>
          <a:xfrm>
            <a:off x="8112325" y="263800"/>
            <a:ext cx="786750" cy="356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2" title="fundo-sem-logos-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7" y="0"/>
            <a:ext cx="913414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2"/>
          <p:cNvSpPr txBox="1"/>
          <p:nvPr/>
        </p:nvSpPr>
        <p:spPr>
          <a:xfrm>
            <a:off x="124600" y="4753725"/>
            <a:ext cx="2599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@Vinícius Grecco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3" name="Google Shape;13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750" y="620025"/>
            <a:ext cx="1013048" cy="535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2" title="imagem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025" y="451975"/>
            <a:ext cx="7917955" cy="445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2" title="NIA.png"/>
          <p:cNvPicPr preferRelativeResize="0"/>
          <p:nvPr/>
        </p:nvPicPr>
        <p:blipFill rotWithShape="1">
          <a:blip r:embed="rId6">
            <a:alphaModFix/>
          </a:blip>
          <a:srcRect b="33348" l="5616" r="0" t="23916"/>
          <a:stretch/>
        </p:blipFill>
        <p:spPr>
          <a:xfrm>
            <a:off x="8043425" y="263800"/>
            <a:ext cx="786750" cy="356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3" title="fundo-sem-logos-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7" y="0"/>
            <a:ext cx="913414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3"/>
          <p:cNvSpPr txBox="1"/>
          <p:nvPr/>
        </p:nvSpPr>
        <p:spPr>
          <a:xfrm>
            <a:off x="124600" y="4753725"/>
            <a:ext cx="2599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@Vinícius Grecco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2" name="Google Shape;142;p23" title="imagem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025" y="344825"/>
            <a:ext cx="7917955" cy="445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3" title="NIA.png"/>
          <p:cNvPicPr preferRelativeResize="0"/>
          <p:nvPr/>
        </p:nvPicPr>
        <p:blipFill rotWithShape="1">
          <a:blip r:embed="rId5">
            <a:alphaModFix/>
          </a:blip>
          <a:srcRect b="33348" l="5616" r="0" t="23916"/>
          <a:stretch/>
        </p:blipFill>
        <p:spPr>
          <a:xfrm>
            <a:off x="8043425" y="263800"/>
            <a:ext cx="786750" cy="356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4" title="fundo-sem-logos-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7" y="0"/>
            <a:ext cx="913414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 txBox="1"/>
          <p:nvPr/>
        </p:nvSpPr>
        <p:spPr>
          <a:xfrm>
            <a:off x="124600" y="4753725"/>
            <a:ext cx="2599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@Vinícius Grecco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0" name="Google Shape;150;p24" title="imagem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038" y="261000"/>
            <a:ext cx="8599925" cy="483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4" title="NIA.png"/>
          <p:cNvPicPr preferRelativeResize="0"/>
          <p:nvPr/>
        </p:nvPicPr>
        <p:blipFill rotWithShape="1">
          <a:blip r:embed="rId5">
            <a:alphaModFix/>
          </a:blip>
          <a:srcRect b="33348" l="5616" r="0" t="23916"/>
          <a:stretch/>
        </p:blipFill>
        <p:spPr>
          <a:xfrm>
            <a:off x="8043425" y="263800"/>
            <a:ext cx="786750" cy="356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5" title="fundo-sem-logos-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3575" y="-34375"/>
            <a:ext cx="9253699" cy="521082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5"/>
          <p:cNvSpPr/>
          <p:nvPr/>
        </p:nvSpPr>
        <p:spPr>
          <a:xfrm>
            <a:off x="860175" y="1450388"/>
            <a:ext cx="7426200" cy="2242500"/>
          </a:xfrm>
          <a:prstGeom prst="roundRect">
            <a:avLst>
              <a:gd fmla="val 8767" name="adj"/>
            </a:avLst>
          </a:prstGeom>
          <a:solidFill>
            <a:srgbClr val="FA4A2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5"/>
          <p:cNvSpPr txBox="1"/>
          <p:nvPr/>
        </p:nvSpPr>
        <p:spPr>
          <a:xfrm>
            <a:off x="124600" y="4753725"/>
            <a:ext cx="2599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@Vinícius Grecco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9" name="Google Shape;159;p25"/>
          <p:cNvSpPr txBox="1"/>
          <p:nvPr>
            <p:ph type="ctrTitle"/>
          </p:nvPr>
        </p:nvSpPr>
        <p:spPr>
          <a:xfrm>
            <a:off x="1571325" y="1565211"/>
            <a:ext cx="5641200" cy="212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EMPREGOS </a:t>
            </a:r>
            <a:r>
              <a:rPr b="1"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SUBSTITUÍDOS</a:t>
            </a:r>
            <a:r>
              <a:rPr b="1"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POR IA NA IRRAH </a:t>
            </a:r>
            <a:endParaRPr b="1"/>
          </a:p>
        </p:txBody>
      </p:sp>
      <p:pic>
        <p:nvPicPr>
          <p:cNvPr id="160" name="Google Shape;160;p25" title="NIA.png"/>
          <p:cNvPicPr preferRelativeResize="0"/>
          <p:nvPr/>
        </p:nvPicPr>
        <p:blipFill rotWithShape="1">
          <a:blip r:embed="rId4">
            <a:alphaModFix/>
          </a:blip>
          <a:srcRect b="33348" l="5616" r="0" t="23916"/>
          <a:stretch/>
        </p:blipFill>
        <p:spPr>
          <a:xfrm>
            <a:off x="8043425" y="263800"/>
            <a:ext cx="786750" cy="356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6" title="fundo-sem-logos-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3575" y="-34375"/>
            <a:ext cx="9253699" cy="5210826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6"/>
          <p:cNvSpPr/>
          <p:nvPr/>
        </p:nvSpPr>
        <p:spPr>
          <a:xfrm>
            <a:off x="957125" y="1155750"/>
            <a:ext cx="7426200" cy="2242500"/>
          </a:xfrm>
          <a:prstGeom prst="roundRect">
            <a:avLst>
              <a:gd fmla="val 8767" name="adj"/>
            </a:avLst>
          </a:prstGeom>
          <a:solidFill>
            <a:srgbClr val="FA4A2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6"/>
          <p:cNvSpPr txBox="1"/>
          <p:nvPr/>
        </p:nvSpPr>
        <p:spPr>
          <a:xfrm>
            <a:off x="124600" y="4753725"/>
            <a:ext cx="2599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@Vinícius Grecco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8" name="Google Shape;168;p26"/>
          <p:cNvSpPr txBox="1"/>
          <p:nvPr>
            <p:ph type="ctrTitle"/>
          </p:nvPr>
        </p:nvSpPr>
        <p:spPr>
          <a:xfrm>
            <a:off x="1751400" y="1400700"/>
            <a:ext cx="5641200" cy="166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endParaRPr b="1" sz="8700"/>
          </a:p>
        </p:txBody>
      </p:sp>
      <p:pic>
        <p:nvPicPr>
          <p:cNvPr id="169" name="Google Shape;169;p26" title="NIA.png"/>
          <p:cNvPicPr preferRelativeResize="0"/>
          <p:nvPr/>
        </p:nvPicPr>
        <p:blipFill rotWithShape="1">
          <a:blip r:embed="rId4">
            <a:alphaModFix/>
          </a:blip>
          <a:srcRect b="33348" l="5616" r="0" t="23916"/>
          <a:stretch/>
        </p:blipFill>
        <p:spPr>
          <a:xfrm>
            <a:off x="8043425" y="263800"/>
            <a:ext cx="786750" cy="356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title="fundo-sem-logos-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3575" y="-34375"/>
            <a:ext cx="9253699" cy="521082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7"/>
          <p:cNvSpPr/>
          <p:nvPr/>
        </p:nvSpPr>
        <p:spPr>
          <a:xfrm>
            <a:off x="957125" y="1002675"/>
            <a:ext cx="7426200" cy="2755500"/>
          </a:xfrm>
          <a:prstGeom prst="roundRect">
            <a:avLst>
              <a:gd fmla="val 8767" name="adj"/>
            </a:avLst>
          </a:prstGeom>
          <a:solidFill>
            <a:srgbClr val="FA4A2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7"/>
          <p:cNvSpPr txBox="1"/>
          <p:nvPr/>
        </p:nvSpPr>
        <p:spPr>
          <a:xfrm>
            <a:off x="124600" y="4753725"/>
            <a:ext cx="2599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@Vinícius Grecco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7" name="Google Shape;177;p27"/>
          <p:cNvSpPr txBox="1"/>
          <p:nvPr>
            <p:ph type="ctrTitle"/>
          </p:nvPr>
        </p:nvSpPr>
        <p:spPr>
          <a:xfrm>
            <a:off x="1751400" y="1224643"/>
            <a:ext cx="5641200" cy="240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r>
              <a:rPr b="1" lang="pt-BR" sz="8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0% </a:t>
            </a:r>
            <a:endParaRPr b="1" sz="87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88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Do time especialista em IA</a:t>
            </a:r>
            <a:endParaRPr b="1" sz="3883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8" name="Google Shape;178;p27" title="NIA.png"/>
          <p:cNvPicPr preferRelativeResize="0"/>
          <p:nvPr/>
        </p:nvPicPr>
        <p:blipFill rotWithShape="1">
          <a:blip r:embed="rId4">
            <a:alphaModFix/>
          </a:blip>
          <a:srcRect b="33348" l="5616" r="0" t="23916"/>
          <a:stretch/>
        </p:blipFill>
        <p:spPr>
          <a:xfrm>
            <a:off x="8043425" y="263800"/>
            <a:ext cx="786750" cy="356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8" title="fundo-sem-logos-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3575" y="-34375"/>
            <a:ext cx="9253699" cy="5210826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8"/>
          <p:cNvSpPr/>
          <p:nvPr/>
        </p:nvSpPr>
        <p:spPr>
          <a:xfrm>
            <a:off x="858900" y="1193275"/>
            <a:ext cx="7426200" cy="2755500"/>
          </a:xfrm>
          <a:prstGeom prst="roundRect">
            <a:avLst>
              <a:gd fmla="val 8767" name="adj"/>
            </a:avLst>
          </a:prstGeom>
          <a:solidFill>
            <a:srgbClr val="FA4A2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8"/>
          <p:cNvSpPr txBox="1"/>
          <p:nvPr/>
        </p:nvSpPr>
        <p:spPr>
          <a:xfrm>
            <a:off x="124600" y="4753725"/>
            <a:ext cx="2599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@Vinícius Grecco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" name="Google Shape;186;p28"/>
          <p:cNvSpPr txBox="1"/>
          <p:nvPr>
            <p:ph type="ctrTitle"/>
          </p:nvPr>
        </p:nvSpPr>
        <p:spPr>
          <a:xfrm>
            <a:off x="1653175" y="1415243"/>
            <a:ext cx="5641200" cy="240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TESTE NO CHAT GPT</a:t>
            </a:r>
            <a:endParaRPr b="1" sz="3883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7" name="Google Shape;187;p28" title="NIA.png"/>
          <p:cNvPicPr preferRelativeResize="0"/>
          <p:nvPr/>
        </p:nvPicPr>
        <p:blipFill rotWithShape="1">
          <a:blip r:embed="rId4">
            <a:alphaModFix/>
          </a:blip>
          <a:srcRect b="33348" l="5616" r="0" t="23916"/>
          <a:stretch/>
        </p:blipFill>
        <p:spPr>
          <a:xfrm>
            <a:off x="8122875" y="240800"/>
            <a:ext cx="837424" cy="37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9" title="fundo-sem-logos-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7" y="0"/>
            <a:ext cx="913414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9"/>
          <p:cNvSpPr txBox="1"/>
          <p:nvPr/>
        </p:nvSpPr>
        <p:spPr>
          <a:xfrm>
            <a:off x="124600" y="4753725"/>
            <a:ext cx="2599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@Vinícius Grecco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4" name="Google Shape;19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2881" y="543325"/>
            <a:ext cx="5493524" cy="421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9" title="NIA.png"/>
          <p:cNvPicPr preferRelativeResize="0"/>
          <p:nvPr/>
        </p:nvPicPr>
        <p:blipFill rotWithShape="1">
          <a:blip r:embed="rId5">
            <a:alphaModFix/>
          </a:blip>
          <a:srcRect b="33348" l="5616" r="0" t="23916"/>
          <a:stretch/>
        </p:blipFill>
        <p:spPr>
          <a:xfrm>
            <a:off x="8122875" y="240800"/>
            <a:ext cx="837424" cy="37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0" title="fundo-sem-logos-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7" y="0"/>
            <a:ext cx="913414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0"/>
          <p:cNvSpPr txBox="1"/>
          <p:nvPr/>
        </p:nvSpPr>
        <p:spPr>
          <a:xfrm>
            <a:off x="124600" y="4753725"/>
            <a:ext cx="2599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@Vinícius Grecco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2" name="Google Shape;20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8250" y="1909750"/>
            <a:ext cx="6467475" cy="132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0" title="NIA.png"/>
          <p:cNvPicPr preferRelativeResize="0"/>
          <p:nvPr/>
        </p:nvPicPr>
        <p:blipFill rotWithShape="1">
          <a:blip r:embed="rId5">
            <a:alphaModFix/>
          </a:blip>
          <a:srcRect b="33348" l="5616" r="0" t="23916"/>
          <a:stretch/>
        </p:blipFill>
        <p:spPr>
          <a:xfrm>
            <a:off x="8122875" y="240800"/>
            <a:ext cx="837424" cy="37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31" title="fundo-sem-logos-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3575" y="-34375"/>
            <a:ext cx="9253699" cy="521082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1"/>
          <p:cNvSpPr/>
          <p:nvPr/>
        </p:nvSpPr>
        <p:spPr>
          <a:xfrm>
            <a:off x="858900" y="1193288"/>
            <a:ext cx="7426200" cy="2755500"/>
          </a:xfrm>
          <a:prstGeom prst="roundRect">
            <a:avLst>
              <a:gd fmla="val 8767" name="adj"/>
            </a:avLst>
          </a:prstGeom>
          <a:solidFill>
            <a:srgbClr val="FA4A2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1"/>
          <p:cNvSpPr txBox="1"/>
          <p:nvPr/>
        </p:nvSpPr>
        <p:spPr>
          <a:xfrm>
            <a:off x="124600" y="4753725"/>
            <a:ext cx="2599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@Vinícius Grecco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1" name="Google Shape;211;p31"/>
          <p:cNvSpPr txBox="1"/>
          <p:nvPr>
            <p:ph type="ctrTitle"/>
          </p:nvPr>
        </p:nvSpPr>
        <p:spPr>
          <a:xfrm>
            <a:off x="1653175" y="1415256"/>
            <a:ext cx="5641200" cy="240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QUAL É O IDEAL ?</a:t>
            </a:r>
            <a:endParaRPr b="1" sz="3883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2" name="Google Shape;212;p31" title="NIA.png"/>
          <p:cNvPicPr preferRelativeResize="0"/>
          <p:nvPr/>
        </p:nvPicPr>
        <p:blipFill rotWithShape="1">
          <a:blip r:embed="rId4">
            <a:alphaModFix/>
          </a:blip>
          <a:srcRect b="33348" l="5616" r="0" t="23916"/>
          <a:stretch/>
        </p:blipFill>
        <p:spPr>
          <a:xfrm>
            <a:off x="8122875" y="240800"/>
            <a:ext cx="837424" cy="37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32" title="fundo-sem-logos-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7" y="0"/>
            <a:ext cx="913414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2"/>
          <p:cNvSpPr txBox="1"/>
          <p:nvPr/>
        </p:nvSpPr>
        <p:spPr>
          <a:xfrm>
            <a:off x="124600" y="4753725"/>
            <a:ext cx="2599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@Vinícius Grecco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9" name="Google Shape;21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1650" y="583800"/>
            <a:ext cx="6140698" cy="397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2" title="NIA.png"/>
          <p:cNvPicPr preferRelativeResize="0"/>
          <p:nvPr/>
        </p:nvPicPr>
        <p:blipFill rotWithShape="1">
          <a:blip r:embed="rId5">
            <a:alphaModFix/>
          </a:blip>
          <a:srcRect b="33348" l="5616" r="0" t="23916"/>
          <a:stretch/>
        </p:blipFill>
        <p:spPr>
          <a:xfrm>
            <a:off x="8122875" y="240800"/>
            <a:ext cx="837424" cy="37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33" title="fundo-sem-logos-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3575" y="-34375"/>
            <a:ext cx="9253699" cy="5210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3"/>
          <p:cNvSpPr/>
          <p:nvPr/>
        </p:nvSpPr>
        <p:spPr>
          <a:xfrm>
            <a:off x="860175" y="1193288"/>
            <a:ext cx="7426200" cy="2755500"/>
          </a:xfrm>
          <a:prstGeom prst="roundRect">
            <a:avLst>
              <a:gd fmla="val 8767" name="adj"/>
            </a:avLst>
          </a:prstGeom>
          <a:solidFill>
            <a:srgbClr val="FA4A2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3"/>
          <p:cNvSpPr txBox="1"/>
          <p:nvPr/>
        </p:nvSpPr>
        <p:spPr>
          <a:xfrm>
            <a:off x="124600" y="4753725"/>
            <a:ext cx="2599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@Vinícius Grecco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" name="Google Shape;228;p33"/>
          <p:cNvSpPr txBox="1"/>
          <p:nvPr>
            <p:ph type="ctrTitle"/>
          </p:nvPr>
        </p:nvSpPr>
        <p:spPr>
          <a:xfrm>
            <a:off x="1663375" y="1720667"/>
            <a:ext cx="5641200" cy="160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Marketing</a:t>
            </a:r>
            <a:endParaRPr b="1" sz="3883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9" name="Google Shape;229;p33" title="NIA.png"/>
          <p:cNvPicPr preferRelativeResize="0"/>
          <p:nvPr/>
        </p:nvPicPr>
        <p:blipFill rotWithShape="1">
          <a:blip r:embed="rId4">
            <a:alphaModFix/>
          </a:blip>
          <a:srcRect b="33348" l="5616" r="0" t="23916"/>
          <a:stretch/>
        </p:blipFill>
        <p:spPr>
          <a:xfrm>
            <a:off x="8122875" y="240800"/>
            <a:ext cx="837424" cy="37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34" title="fundo-sem-logos-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7" y="0"/>
            <a:ext cx="913414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4" title="file_00000000b914820e9f9d47d151842577.png"/>
          <p:cNvPicPr preferRelativeResize="0"/>
          <p:nvPr/>
        </p:nvPicPr>
        <p:blipFill rotWithShape="1">
          <a:blip r:embed="rId4">
            <a:alphaModFix/>
          </a:blip>
          <a:srcRect b="27604" l="0" r="0" t="0"/>
          <a:stretch/>
        </p:blipFill>
        <p:spPr>
          <a:xfrm>
            <a:off x="7967800" y="258700"/>
            <a:ext cx="1061501" cy="36132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4"/>
          <p:cNvSpPr txBox="1"/>
          <p:nvPr/>
        </p:nvSpPr>
        <p:spPr>
          <a:xfrm>
            <a:off x="124600" y="4753725"/>
            <a:ext cx="2599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@Vinícius Grecco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7" name="Google Shape;237;p34"/>
          <p:cNvSpPr/>
          <p:nvPr/>
        </p:nvSpPr>
        <p:spPr>
          <a:xfrm>
            <a:off x="3" y="-34225"/>
            <a:ext cx="9144000" cy="517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238" name="Google Shape;238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71863" y="1039125"/>
            <a:ext cx="5600272" cy="36156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9" name="Google Shape;239;p34"/>
          <p:cNvCxnSpPr/>
          <p:nvPr/>
        </p:nvCxnSpPr>
        <p:spPr>
          <a:xfrm rot="10800000">
            <a:off x="471375" y="512525"/>
            <a:ext cx="7344300" cy="12600"/>
          </a:xfrm>
          <a:prstGeom prst="straightConnector1">
            <a:avLst/>
          </a:prstGeom>
          <a:noFill/>
          <a:ln cap="flat" cmpd="sng" w="9525">
            <a:solidFill>
              <a:srgbClr val="FA4A2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34"/>
          <p:cNvSpPr txBox="1"/>
          <p:nvPr/>
        </p:nvSpPr>
        <p:spPr>
          <a:xfrm>
            <a:off x="124600" y="4753725"/>
            <a:ext cx="2599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@Vinícius Grecco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1" name="Google Shape;241;p34"/>
          <p:cNvSpPr/>
          <p:nvPr/>
        </p:nvSpPr>
        <p:spPr>
          <a:xfrm>
            <a:off x="1640900" y="3906000"/>
            <a:ext cx="1637100" cy="74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4A23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35" title="fundo-sem-logos-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7" y="0"/>
            <a:ext cx="913414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5"/>
          <p:cNvSpPr/>
          <p:nvPr/>
        </p:nvSpPr>
        <p:spPr>
          <a:xfrm>
            <a:off x="3" y="-34225"/>
            <a:ext cx="9144000" cy="517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cxnSp>
        <p:nvCxnSpPr>
          <p:cNvPr id="248" name="Google Shape;248;p35"/>
          <p:cNvCxnSpPr/>
          <p:nvPr/>
        </p:nvCxnSpPr>
        <p:spPr>
          <a:xfrm rot="10800000">
            <a:off x="471375" y="512525"/>
            <a:ext cx="7344300" cy="12600"/>
          </a:xfrm>
          <a:prstGeom prst="straightConnector1">
            <a:avLst/>
          </a:prstGeom>
          <a:noFill/>
          <a:ln cap="flat" cmpd="sng" w="9525">
            <a:solidFill>
              <a:srgbClr val="FA4A2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49" name="Google Shape;249;p35"/>
          <p:cNvPicPr preferRelativeResize="0"/>
          <p:nvPr/>
        </p:nvPicPr>
        <p:blipFill rotWithShape="1">
          <a:blip r:embed="rId4">
            <a:alphaModFix/>
          </a:blip>
          <a:srcRect b="0" l="1206" r="745" t="0"/>
          <a:stretch/>
        </p:blipFill>
        <p:spPr>
          <a:xfrm>
            <a:off x="1085575" y="916975"/>
            <a:ext cx="6972825" cy="36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5"/>
          <p:cNvSpPr txBox="1"/>
          <p:nvPr/>
        </p:nvSpPr>
        <p:spPr>
          <a:xfrm>
            <a:off x="124600" y="4753725"/>
            <a:ext cx="2599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@Vinícius 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recco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4A23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36" title="fundo-sem-logos-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7" y="0"/>
            <a:ext cx="913414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6"/>
          <p:cNvSpPr/>
          <p:nvPr/>
        </p:nvSpPr>
        <p:spPr>
          <a:xfrm>
            <a:off x="3" y="-34225"/>
            <a:ext cx="9144000" cy="517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cxnSp>
        <p:nvCxnSpPr>
          <p:cNvPr id="257" name="Google Shape;257;p36"/>
          <p:cNvCxnSpPr/>
          <p:nvPr/>
        </p:nvCxnSpPr>
        <p:spPr>
          <a:xfrm rot="10800000">
            <a:off x="471375" y="512525"/>
            <a:ext cx="7344300" cy="12600"/>
          </a:xfrm>
          <a:prstGeom prst="straightConnector1">
            <a:avLst/>
          </a:prstGeom>
          <a:noFill/>
          <a:ln cap="flat" cmpd="sng" w="9525">
            <a:solidFill>
              <a:srgbClr val="FA4A2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" name="Google Shape;258;p36"/>
          <p:cNvSpPr txBox="1"/>
          <p:nvPr/>
        </p:nvSpPr>
        <p:spPr>
          <a:xfrm>
            <a:off x="124600" y="4753725"/>
            <a:ext cx="2599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@Vinícius Grecco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9" name="Google Shape;259;p36" title="funil-de-vendas-1140x624.png.ba68640230ed7a32c399e3e8d95c9c3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6760" y="789952"/>
            <a:ext cx="6510474" cy="356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4A23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37" title="fundo-sem-logos-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7" y="0"/>
            <a:ext cx="913414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7"/>
          <p:cNvSpPr/>
          <p:nvPr/>
        </p:nvSpPr>
        <p:spPr>
          <a:xfrm>
            <a:off x="3" y="-34225"/>
            <a:ext cx="9144000" cy="517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cxnSp>
        <p:nvCxnSpPr>
          <p:cNvPr id="266" name="Google Shape;266;p37"/>
          <p:cNvCxnSpPr/>
          <p:nvPr/>
        </p:nvCxnSpPr>
        <p:spPr>
          <a:xfrm rot="10800000">
            <a:off x="471375" y="512525"/>
            <a:ext cx="7344300" cy="12600"/>
          </a:xfrm>
          <a:prstGeom prst="straightConnector1">
            <a:avLst/>
          </a:prstGeom>
          <a:noFill/>
          <a:ln cap="flat" cmpd="sng" w="9525">
            <a:solidFill>
              <a:srgbClr val="FA4A2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37"/>
          <p:cNvSpPr txBox="1"/>
          <p:nvPr/>
        </p:nvSpPr>
        <p:spPr>
          <a:xfrm>
            <a:off x="124600" y="4753725"/>
            <a:ext cx="2599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@Vinícius Grecco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8" name="Google Shape;268;p37" title="Asset-7@3x-1024x44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100" y="780062"/>
            <a:ext cx="8203799" cy="3549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38" title="fundo-sem-logos-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0225" y="-38275"/>
            <a:ext cx="9297276" cy="5235351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8"/>
          <p:cNvSpPr txBox="1"/>
          <p:nvPr/>
        </p:nvSpPr>
        <p:spPr>
          <a:xfrm>
            <a:off x="124600" y="4753725"/>
            <a:ext cx="2599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@Vinícius Grecco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5" name="Google Shape;275;p38"/>
          <p:cNvSpPr txBox="1"/>
          <p:nvPr>
            <p:ph type="ctrTitle"/>
          </p:nvPr>
        </p:nvSpPr>
        <p:spPr>
          <a:xfrm>
            <a:off x="458550" y="1242163"/>
            <a:ext cx="8226900" cy="303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“Quem entender a inteligência artificial como aliada estratégica, </a:t>
            </a:r>
            <a:endParaRPr sz="2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900">
                <a:solidFill>
                  <a:srgbClr val="FF4016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VAI VENDER MAIS, GASTAR MENOS E ESCALAR</a:t>
            </a:r>
            <a:r>
              <a:rPr lang="pt-BR" sz="2600">
                <a:solidFill>
                  <a:srgbClr val="FF401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600">
              <a:solidFill>
                <a:srgbClr val="FF401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antes dos outros perceberem o que aconteceu.”</a:t>
            </a:r>
            <a:endParaRPr sz="2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53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6" name="Google Shape;276;p38" title="NIA.png"/>
          <p:cNvPicPr preferRelativeResize="0"/>
          <p:nvPr/>
        </p:nvPicPr>
        <p:blipFill rotWithShape="1">
          <a:blip r:embed="rId4">
            <a:alphaModFix/>
          </a:blip>
          <a:srcRect b="33348" l="5616" r="0" t="23916"/>
          <a:stretch/>
        </p:blipFill>
        <p:spPr>
          <a:xfrm>
            <a:off x="8122875" y="240800"/>
            <a:ext cx="837424" cy="37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